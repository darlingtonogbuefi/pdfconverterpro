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56500" cy="10693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29096" y="284098"/>
            <a:ext cx="603505" cy="157391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900" b="1" i="0">
                <a:solidFill>
                  <a:srgbClr val="000000"/>
                </a:solidFill>
                <a:latin typeface="Arial"/>
              </a:defRPr>
            </a:pPr>
            <a:r>
              <a:t>Page 1 of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79850" y="296798"/>
            <a:ext cx="1003782" cy="157391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900" b="1" i="0">
                <a:solidFill>
                  <a:srgbClr val="000000"/>
                </a:solidFill>
                <a:latin typeface="Arial"/>
              </a:defRPr>
            </a:pPr>
            <a:r>
              <a:t>04 November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" y="9681654"/>
            <a:ext cx="1934407" cy="108188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619" b="0" i="0">
                <a:solidFill>
                  <a:srgbClr val="000000"/>
                </a:solidFill>
                <a:latin typeface="Arial"/>
              </a:defRPr>
            </a:pPr>
            <a:r>
              <a:t>If you think something is incorrect, please contact us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8110" y="9682048"/>
            <a:ext cx="547243" cy="108424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619" b="1" i="0">
                <a:solidFill>
                  <a:srgbClr val="000000"/>
                </a:solidFill>
                <a:latin typeface="Arial"/>
              </a:defRPr>
            </a:pPr>
            <a:r>
              <a:t> 0345 300 0000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9839135"/>
            <a:ext cx="4739759" cy="108188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619" b="0" i="0">
                <a:solidFill>
                  <a:srgbClr val="000000"/>
                </a:solidFill>
                <a:latin typeface="Arial"/>
              </a:defRPr>
            </a:pPr>
            <a:r>
              <a:t>Lloyds Bank plc. Registered Office: 25 Gresham Street, London EC2V 7HN. Registered in England and Wales no. 2065 Lloyds Bank plc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9933114"/>
            <a:ext cx="4573618" cy="108188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619" b="0" i="0">
                <a:solidFill>
                  <a:srgbClr val="000000"/>
                </a:solidFill>
                <a:latin typeface="Arial"/>
              </a:defRPr>
            </a:pPr>
            <a:r>
              <a:t>is authorised by the Prudential Regulation Authority and regulated by the Financial Conduct Authority and the Prudential Regulation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900" y="10027094"/>
            <a:ext cx="1540548" cy="108188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619" b="0" i="0">
                <a:solidFill>
                  <a:srgbClr val="000000"/>
                </a:solidFill>
                <a:latin typeface="Arial"/>
              </a:defRPr>
            </a:pPr>
            <a:r>
              <a:t>Authority under registration number 119278.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" y="1122680"/>
            <a:ext cx="1106830" cy="139598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800" b="0" i="0">
                <a:solidFill>
                  <a:srgbClr val="000000"/>
                </a:solidFill>
                <a:latin typeface="Arial"/>
              </a:defRPr>
            </a:pPr>
            <a:r>
              <a:t>Document requested by: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900" y="1248727"/>
            <a:ext cx="1117968" cy="157048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900" b="0" i="0">
                <a:solidFill>
                  <a:srgbClr val="000000"/>
                </a:solidFill>
                <a:latin typeface="Arial"/>
              </a:defRPr>
            </a:pPr>
            <a:r>
              <a:t>Mr Darlington Ogbuefi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" y="1401127"/>
            <a:ext cx="1143343" cy="157048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900" b="0" i="0">
                <a:solidFill>
                  <a:srgbClr val="000000"/>
                </a:solidFill>
                <a:latin typeface="Arial"/>
              </a:defRPr>
            </a:pPr>
            <a:r>
              <a:t>401 BURGESS ROAD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900" y="1553527"/>
            <a:ext cx="889025" cy="157048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900" b="0" i="0">
                <a:solidFill>
                  <a:srgbClr val="000000"/>
                </a:solidFill>
                <a:latin typeface="Arial"/>
              </a:defRPr>
            </a:pPr>
            <a:r>
              <a:t>SOUTHAMPTON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900" y="1705927"/>
            <a:ext cx="679513" cy="157048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900" b="0" i="0">
                <a:solidFill>
                  <a:srgbClr val="000000"/>
                </a:solidFill>
                <a:latin typeface="Arial"/>
              </a:defRPr>
            </a:pPr>
            <a:r>
              <a:t>HAMPSHIRE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900" y="1858327"/>
            <a:ext cx="527380" cy="157048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900" b="0" i="0">
                <a:solidFill>
                  <a:srgbClr val="000000"/>
                </a:solidFill>
                <a:latin typeface="Arial"/>
              </a:defRPr>
            </a:pPr>
            <a:r>
              <a:t>SO16 3BL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79850" y="1068069"/>
            <a:ext cx="914856" cy="209397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1200" b="0" i="0">
                <a:solidFill>
                  <a:srgbClr val="000000"/>
                </a:solidFill>
                <a:latin typeface="Arial"/>
              </a:defRPr>
            </a:pPr>
            <a:r>
              <a:t>Your Account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79850" y="1401699"/>
            <a:ext cx="546125" cy="157391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900" b="1" i="0">
                <a:solidFill>
                  <a:srgbClr val="000000"/>
                </a:solidFill>
                <a:latin typeface="Arial"/>
              </a:defRPr>
            </a:pPr>
            <a:r>
              <a:t>Sort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4750" y="1401127"/>
            <a:ext cx="457428" cy="157048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900" b="0" i="0">
                <a:solidFill>
                  <a:srgbClr val="000000"/>
                </a:solidFill>
                <a:latin typeface="Arial"/>
              </a:defRPr>
            </a:pPr>
            <a:r>
              <a:t>77-15-08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79850" y="1554099"/>
            <a:ext cx="920800" cy="157391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900" b="1" i="0">
                <a:solidFill>
                  <a:srgbClr val="000000"/>
                </a:solidFill>
                <a:latin typeface="Arial"/>
              </a:defRPr>
            </a:pPr>
            <a:r>
              <a:t>Account Number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4750" y="1553527"/>
            <a:ext cx="508406" cy="157048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900" b="0" i="0">
                <a:solidFill>
                  <a:srgbClr val="000000"/>
                </a:solidFill>
                <a:latin typeface="Arial"/>
              </a:defRPr>
            </a:pPr>
            <a:r>
              <a:t>46764868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900" y="2173604"/>
            <a:ext cx="652119" cy="209397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1200" b="0" i="0">
                <a:solidFill>
                  <a:srgbClr val="000000"/>
                </a:solidFill>
                <a:latin typeface="Arial"/>
              </a:defRPr>
            </a:pPr>
            <a:r>
              <a:t>CLASSIC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8566" y="2173604"/>
            <a:ext cx="2803854" cy="209397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1200" b="0" i="0">
                <a:solidFill>
                  <a:srgbClr val="000000"/>
                </a:solidFill>
                <a:latin typeface="Arial"/>
              </a:defRPr>
            </a:pPr>
            <a:r>
              <a:t>01 November 2025 to 04 November 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900" y="2725673"/>
            <a:ext cx="495376" cy="157391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900" b="1" i="0">
                <a:solidFill>
                  <a:srgbClr val="000000"/>
                </a:solidFill>
                <a:latin typeface="Arial"/>
              </a:defRPr>
            </a:pPr>
            <a:r>
              <a:t>Money 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09569" y="2725102"/>
            <a:ext cx="285978" cy="157048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900" b="0" i="0">
                <a:solidFill>
                  <a:srgbClr val="000000"/>
                </a:solidFill>
                <a:latin typeface="Arial"/>
              </a:defRPr>
            </a:pPr>
            <a:r>
              <a:t>£0.00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60800" y="2725673"/>
            <a:ext cx="1645348" cy="157391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900" b="1" i="0">
                <a:solidFill>
                  <a:srgbClr val="000000"/>
                </a:solidFill>
                <a:latin typeface="Arial"/>
              </a:defRPr>
            </a:pPr>
            <a:r>
              <a:t>Balance on 01 November 2025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0465" y="2725102"/>
            <a:ext cx="571958" cy="157048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900" b="0" i="0">
                <a:solidFill>
                  <a:srgbClr val="000000"/>
                </a:solidFill>
                <a:latin typeface="Arial"/>
              </a:defRPr>
            </a:pPr>
            <a:r>
              <a:t>£19,602.91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3900" y="2941828"/>
            <a:ext cx="590588" cy="157391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900" b="1" i="0">
                <a:solidFill>
                  <a:srgbClr val="000000"/>
                </a:solidFill>
                <a:latin typeface="Arial"/>
              </a:defRPr>
            </a:pPr>
            <a:r>
              <a:t>Money Out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23564" y="2941256"/>
            <a:ext cx="571957" cy="157048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900" b="0" i="0">
                <a:solidFill>
                  <a:srgbClr val="000000"/>
                </a:solidFill>
                <a:latin typeface="Arial"/>
              </a:defRPr>
            </a:pPr>
            <a:r>
              <a:t>£10,697.50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60800" y="2941828"/>
            <a:ext cx="1645348" cy="157391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900" b="1" i="0">
                <a:solidFill>
                  <a:srgbClr val="000000"/>
                </a:solidFill>
                <a:latin typeface="Arial"/>
              </a:defRPr>
            </a:pPr>
            <a:r>
              <a:t>Balance on 04 November 2025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3965" y="2941256"/>
            <a:ext cx="508408" cy="157048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900" b="0" i="0">
                <a:solidFill>
                  <a:srgbClr val="000000"/>
                </a:solidFill>
                <a:latin typeface="Arial"/>
              </a:defRPr>
            </a:pPr>
            <a:r>
              <a:t>£8,905.41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3900" y="3383407"/>
            <a:ext cx="1338071" cy="209854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1200" b="1" i="0">
                <a:solidFill>
                  <a:srgbClr val="000000"/>
                </a:solidFill>
                <a:latin typeface="Arial"/>
              </a:defRPr>
            </a:pPr>
            <a:r>
              <a:t>Your Transactions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3900" y="3837178"/>
            <a:ext cx="247688" cy="157391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900" b="1" i="0">
                <a:solidFill>
                  <a:srgbClr val="000000"/>
                </a:solidFill>
                <a:latin typeface="Arial"/>
              </a:defRPr>
            </a:pPr>
            <a:r>
              <a:t>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1432" y="3837178"/>
            <a:ext cx="628763" cy="157391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900" b="1" i="0">
                <a:solidFill>
                  <a:srgbClr val="000000"/>
                </a:solidFill>
                <a:latin typeface="Arial"/>
              </a:defRPr>
            </a:pPr>
            <a:r>
              <a:t>Description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38652" y="3837178"/>
            <a:ext cx="266775" cy="157391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900" b="1" i="0">
                <a:solidFill>
                  <a:srgbClr val="000000"/>
                </a:solidFill>
                <a:latin typeface="Arial"/>
              </a:defRPr>
            </a:pPr>
            <a:r>
              <a:t>Type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96511" y="3837178"/>
            <a:ext cx="666826" cy="157391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900" b="1" i="0">
                <a:solidFill>
                  <a:srgbClr val="000000"/>
                </a:solidFill>
                <a:latin typeface="Arial"/>
              </a:defRPr>
            </a:pPr>
            <a:r>
              <a:t>Money In (£)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94528" y="3837178"/>
            <a:ext cx="762038" cy="157391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900" b="1" i="0">
                <a:solidFill>
                  <a:srgbClr val="000000"/>
                </a:solidFill>
                <a:latin typeface="Arial"/>
              </a:defRPr>
            </a:pPr>
            <a:r>
              <a:t>Money Out (£)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22619" y="3837178"/>
            <a:ext cx="609791" cy="157391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900" b="1" i="0">
                <a:solidFill>
                  <a:srgbClr val="000000"/>
                </a:solidFill>
                <a:latin typeface="Arial"/>
              </a:defRPr>
            </a:pPr>
            <a:r>
              <a:t>Balance (£)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3900" y="4154106"/>
            <a:ext cx="520979" cy="157048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900" b="0" i="0">
                <a:solidFill>
                  <a:srgbClr val="000000"/>
                </a:solidFill>
                <a:latin typeface="Arial"/>
              </a:defRPr>
            </a:pPr>
            <a:r>
              <a:t>04 Nov 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51432" y="4154106"/>
            <a:ext cx="1295590" cy="157048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900" b="0" i="0">
                <a:solidFill>
                  <a:srgbClr val="000000"/>
                </a:solidFill>
                <a:latin typeface="Arial"/>
              </a:defRPr>
            </a:pPr>
            <a:r>
              <a:t>COHORT SOLUTIONS 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38652" y="4154106"/>
            <a:ext cx="235000" cy="157048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900" b="0" i="0">
                <a:solidFill>
                  <a:srgbClr val="000000"/>
                </a:solidFill>
                <a:latin typeface="Arial"/>
              </a:defRPr>
            </a:pPr>
            <a:r>
              <a:t>FPO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48147" y="4154106"/>
            <a:ext cx="508406" cy="157048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900" b="0" i="0">
                <a:solidFill>
                  <a:srgbClr val="000000"/>
                </a:solidFill>
                <a:latin typeface="Arial"/>
              </a:defRPr>
            </a:pPr>
            <a:r>
              <a:t>10,697.50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7591" y="4154106"/>
            <a:ext cx="444857" cy="157048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900" b="0" i="0">
                <a:solidFill>
                  <a:srgbClr val="000000"/>
                </a:solidFill>
                <a:latin typeface="Arial"/>
              </a:defRPr>
            </a:pPr>
            <a:r>
              <a:t>8,905.41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3900" y="8035163"/>
            <a:ext cx="1304238" cy="209855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1200" b="1" i="0">
                <a:solidFill>
                  <a:srgbClr val="000000"/>
                </a:solidFill>
                <a:latin typeface="Arial"/>
              </a:defRPr>
            </a:pPr>
            <a:r>
              <a:t>Transaction types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300" y="8431783"/>
            <a:ext cx="253974" cy="157391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900" b="1" i="0">
                <a:solidFill>
                  <a:srgbClr val="000000"/>
                </a:solidFill>
                <a:latin typeface="Arial"/>
              </a:defRPr>
            </a:pPr>
            <a:r>
              <a:t>BGC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3451" y="8431212"/>
            <a:ext cx="926300" cy="157047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900" b="0" i="0">
                <a:solidFill>
                  <a:srgbClr val="000000"/>
                </a:solidFill>
                <a:latin typeface="Arial"/>
              </a:defRPr>
            </a:pPr>
            <a:r>
              <a:t> Bank Giro Credit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93239" y="8431783"/>
            <a:ext cx="158762" cy="157391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900" b="1" i="0">
                <a:solidFill>
                  <a:srgbClr val="000000"/>
                </a:solidFill>
                <a:latin typeface="Arial"/>
              </a:defRPr>
            </a:pPr>
            <a:r>
              <a:t>BP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28900" y="8431212"/>
            <a:ext cx="692315" cy="157047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900" b="0" i="0">
                <a:solidFill>
                  <a:srgbClr val="000000"/>
                </a:solidFill>
                <a:latin typeface="Arial"/>
              </a:defRPr>
            </a:pPr>
            <a:r>
              <a:t>Bill Payments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37178" y="8431783"/>
            <a:ext cx="253974" cy="157391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900" b="1" i="0">
                <a:solidFill>
                  <a:srgbClr val="000000"/>
                </a:solidFill>
                <a:latin typeface="Arial"/>
              </a:defRPr>
            </a:pPr>
            <a:r>
              <a:t>CHG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91328" y="8431212"/>
            <a:ext cx="456299" cy="157047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900" b="0" i="0">
                <a:solidFill>
                  <a:srgbClr val="000000"/>
                </a:solidFill>
                <a:latin typeface="Arial"/>
              </a:defRPr>
            </a:pPr>
            <a:r>
              <a:t> Charge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81116" y="8431783"/>
            <a:ext cx="253974" cy="157391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900" b="1" i="0">
                <a:solidFill>
                  <a:srgbClr val="000000"/>
                </a:solidFill>
                <a:latin typeface="Arial"/>
              </a:defRPr>
            </a:pPr>
            <a:r>
              <a:t>CHQ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35267" y="8431212"/>
            <a:ext cx="481788" cy="157047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900" b="0" i="0">
                <a:solidFill>
                  <a:srgbClr val="000000"/>
                </a:solidFill>
                <a:latin typeface="Arial"/>
              </a:defRPr>
            </a:pPr>
            <a:r>
              <a:t> Cheque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9300" y="8634983"/>
            <a:ext cx="253974" cy="157391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900" b="1" i="0">
                <a:solidFill>
                  <a:srgbClr val="000000"/>
                </a:solidFill>
                <a:latin typeface="Arial"/>
              </a:defRPr>
            </a:pPr>
            <a:r>
              <a:t>COR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3451" y="8634412"/>
            <a:ext cx="608661" cy="157047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900" b="0" i="0">
                <a:solidFill>
                  <a:srgbClr val="000000"/>
                </a:solidFill>
                <a:latin typeface="Arial"/>
              </a:defRPr>
            </a:pPr>
            <a:r>
              <a:t> Correction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293239" y="8634983"/>
            <a:ext cx="228600" cy="157391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900" b="1" i="0">
                <a:solidFill>
                  <a:srgbClr val="000000"/>
                </a:solidFill>
                <a:latin typeface="Arial"/>
              </a:defRPr>
            </a:pPr>
            <a:r>
              <a:t>CPT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628900" y="8634412"/>
            <a:ext cx="514578" cy="157047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900" b="0" i="0">
                <a:solidFill>
                  <a:srgbClr val="000000"/>
                </a:solidFill>
                <a:latin typeface="Arial"/>
              </a:defRPr>
            </a:pPr>
            <a:r>
              <a:t>Cashpoint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837178" y="8634983"/>
            <a:ext cx="165048" cy="157391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900" b="1" i="0">
                <a:solidFill>
                  <a:srgbClr val="000000"/>
                </a:solidFill>
                <a:latin typeface="Arial"/>
              </a:defRPr>
            </a:pPr>
            <a:r>
              <a:t>DD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72839" y="8634412"/>
            <a:ext cx="596988" cy="157047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900" b="0" i="0">
                <a:solidFill>
                  <a:srgbClr val="000000"/>
                </a:solidFill>
                <a:latin typeface="Arial"/>
              </a:defRPr>
            </a:pPr>
            <a:r>
              <a:t>Direct Debit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81116" y="8634983"/>
            <a:ext cx="241286" cy="157391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900" b="1" i="0">
                <a:solidFill>
                  <a:srgbClr val="000000"/>
                </a:solidFill>
                <a:latin typeface="Arial"/>
              </a:defRPr>
            </a:pPr>
            <a:r>
              <a:t>DEB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16778" y="8634412"/>
            <a:ext cx="546239" cy="157047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900" b="0" i="0">
                <a:solidFill>
                  <a:srgbClr val="000000"/>
                </a:solidFill>
                <a:latin typeface="Arial"/>
              </a:defRPr>
            </a:pPr>
            <a:r>
              <a:t>Debit Card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9300" y="8838183"/>
            <a:ext cx="235000" cy="157391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900" b="1" i="0">
                <a:solidFill>
                  <a:srgbClr val="000000"/>
                </a:solidFill>
                <a:latin typeface="Arial"/>
              </a:defRPr>
            </a:pPr>
            <a:r>
              <a:t>DEP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84961" y="8837612"/>
            <a:ext cx="387476" cy="157047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900" b="0" i="0">
                <a:solidFill>
                  <a:srgbClr val="000000"/>
                </a:solidFill>
                <a:latin typeface="Arial"/>
              </a:defRPr>
            </a:pPr>
            <a:r>
              <a:t>Deposit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293239" y="8838183"/>
            <a:ext cx="222313" cy="157391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900" b="1" i="0">
                <a:solidFill>
                  <a:srgbClr val="000000"/>
                </a:solidFill>
                <a:latin typeface="Arial"/>
              </a:defRPr>
            </a:pPr>
            <a:r>
              <a:t>FEE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628900" y="8837612"/>
            <a:ext cx="692314" cy="157047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900" b="0" i="0">
                <a:solidFill>
                  <a:srgbClr val="000000"/>
                </a:solidFill>
                <a:latin typeface="Arial"/>
              </a:defRPr>
            </a:pPr>
            <a:r>
              <a:t>Fixed Service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37178" y="8838183"/>
            <a:ext cx="177850" cy="157391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900" b="1" i="0">
                <a:solidFill>
                  <a:srgbClr val="000000"/>
                </a:solidFill>
                <a:latin typeface="Arial"/>
              </a:defRPr>
            </a:pPr>
            <a:r>
              <a:t>FPI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72839" y="8837612"/>
            <a:ext cx="933831" cy="157047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900" b="0" i="0">
                <a:solidFill>
                  <a:srgbClr val="000000"/>
                </a:solidFill>
                <a:latin typeface="Arial"/>
              </a:defRPr>
            </a:pPr>
            <a:r>
              <a:t>Faster Payment In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81116" y="8838183"/>
            <a:ext cx="235000" cy="157391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900" b="1" i="0">
                <a:solidFill>
                  <a:srgbClr val="000000"/>
                </a:solidFill>
                <a:latin typeface="Arial"/>
              </a:defRPr>
            </a:pPr>
            <a:r>
              <a:t>FPO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716778" y="8837612"/>
            <a:ext cx="1022757" cy="157047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900" b="0" i="0">
                <a:solidFill>
                  <a:srgbClr val="000000"/>
                </a:solidFill>
                <a:latin typeface="Arial"/>
              </a:defRPr>
            </a:pPr>
            <a:r>
              <a:t>Faster Payment Out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49300" y="9041383"/>
            <a:ext cx="203225" cy="157391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900" b="1" i="0">
                <a:solidFill>
                  <a:srgbClr val="000000"/>
                </a:solidFill>
                <a:latin typeface="Arial"/>
              </a:defRPr>
            </a:pPr>
            <a:r>
              <a:t>MPI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84961" y="9040812"/>
            <a:ext cx="946518" cy="157047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900" b="0" i="0">
                <a:solidFill>
                  <a:srgbClr val="000000"/>
                </a:solidFill>
                <a:latin typeface="Arial"/>
              </a:defRPr>
            </a:pPr>
            <a:r>
              <a:t>Mobile Payment In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293239" y="9041383"/>
            <a:ext cx="260375" cy="157391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900" b="1" i="0">
                <a:solidFill>
                  <a:srgbClr val="000000"/>
                </a:solidFill>
                <a:latin typeface="Arial"/>
              </a:defRPr>
            </a:pPr>
            <a:r>
              <a:t>MPO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553791" y="9040812"/>
            <a:ext cx="1110553" cy="157047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900" b="0" i="0">
                <a:solidFill>
                  <a:srgbClr val="000000"/>
                </a:solidFill>
                <a:latin typeface="Arial"/>
              </a:defRPr>
            </a:pPr>
            <a:r>
              <a:t> Mobile Payment Out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837178" y="9041383"/>
            <a:ext cx="235000" cy="157391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900" b="1" i="0">
                <a:solidFill>
                  <a:srgbClr val="000000"/>
                </a:solidFill>
                <a:latin typeface="Arial"/>
              </a:defRPr>
            </a:pPr>
            <a:r>
              <a:t>PAY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72839" y="9040812"/>
            <a:ext cx="451027" cy="157047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900" b="0" i="0">
                <a:solidFill>
                  <a:srgbClr val="000000"/>
                </a:solidFill>
                <a:latin typeface="Arial"/>
              </a:defRPr>
            </a:pPr>
            <a:r>
              <a:t>Payment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81116" y="9041383"/>
            <a:ext cx="165163" cy="157391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900" b="1" i="0">
                <a:solidFill>
                  <a:srgbClr val="000000"/>
                </a:solidFill>
                <a:latin typeface="Arial"/>
              </a:defRPr>
            </a:pPr>
            <a:r>
              <a:t>SO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716778" y="9040812"/>
            <a:ext cx="775068" cy="157047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900" b="0" i="0">
                <a:solidFill>
                  <a:srgbClr val="000000"/>
                </a:solidFill>
                <a:latin typeface="Arial"/>
              </a:defRPr>
            </a:pPr>
            <a:r>
              <a:t>Standing Order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9300" y="9244583"/>
            <a:ext cx="222199" cy="157391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900" b="1" i="0">
                <a:solidFill>
                  <a:srgbClr val="000000"/>
                </a:solidFill>
                <a:latin typeface="Arial"/>
              </a:defRPr>
            </a:pPr>
            <a:r>
              <a:t>TFR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84961" y="9244012"/>
            <a:ext cx="425538" cy="157047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>
              <a:defRPr sz="900" b="0" i="0">
                <a:solidFill>
                  <a:srgbClr val="000000"/>
                </a:solidFill>
                <a:latin typeface="Arial"/>
              </a:defRPr>
            </a:pPr>
            <a:r>
              <a:t>Transfer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